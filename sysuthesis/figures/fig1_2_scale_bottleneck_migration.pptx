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26280" y="73152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111111"/>
                </a:solidFill>
                <a:latin typeface="PingFang SC"/>
              </a:rPr>
              <a:t>数据规模持续增长</a:t>
            </a:r>
          </a:p>
        </p:txBody>
      </p:sp>
      <p:sp>
        <p:nvSpPr>
          <p:cNvPr id="3" name="Right Arrow 2"/>
          <p:cNvSpPr/>
          <p:nvPr/>
        </p:nvSpPr>
        <p:spPr>
          <a:xfrm>
            <a:off x="731520" y="384048"/>
            <a:ext cx="10698480" cy="210312"/>
          </a:xfrm>
          <a:prstGeom prst="rightArrow">
            <a:avLst/>
          </a:prstGeom>
          <a:solidFill>
            <a:srgbClr val="E5E5E5"/>
          </a:solidFill>
          <a:ln w="190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304" y="566928"/>
            <a:ext cx="2788920" cy="5257800"/>
          </a:xfrm>
          <a:prstGeom prst="roundRect">
            <a:avLst/>
          </a:prstGeom>
          <a:solidFill>
            <a:srgbClr val="F5F5F5"/>
          </a:solidFill>
          <a:ln w="22225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85800"/>
            <a:ext cx="2057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11111"/>
                </a:solidFill>
                <a:latin typeface="PingFang SC"/>
              </a:rPr>
              <a:t>小规模数据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78992"/>
            <a:ext cx="2359152" cy="768096"/>
          </a:xfrm>
          <a:prstGeom prst="roundRect">
            <a:avLst/>
          </a:prstGeom>
          <a:solidFill>
            <a:srgbClr val="DAE8FC"/>
          </a:solidFill>
          <a:ln w="19050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/>
            <a:r>
              <a:rPr sz="1550" b="0">
                <a:solidFill>
                  <a:srgbClr val="111111"/>
                </a:solidFill>
                <a:latin typeface="PingFang SC"/>
              </a:rPr>
              <a:t>主要特征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样本量较小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单机内存可容纳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084831"/>
            <a:ext cx="2359152" cy="768096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/>
            <a:r>
              <a:rPr sz="1550" b="0">
                <a:solidFill>
                  <a:srgbClr val="111111"/>
                </a:solidFill>
                <a:latin typeface="PingFang SC"/>
              </a:rPr>
              <a:t>典型处理方式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单机 CPU 检测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规则与统计方法为主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090672"/>
            <a:ext cx="2359152" cy="768096"/>
          </a:xfrm>
          <a:prstGeom prst="roundRect">
            <a:avLst/>
          </a:prstGeom>
          <a:solidFill>
            <a:srgbClr val="F8CECC"/>
          </a:solidFill>
          <a:ln w="19050">
            <a:solidFill>
              <a:srgbClr val="B85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/>
            <a:r>
              <a:rPr sz="1550" b="0">
                <a:solidFill>
                  <a:srgbClr val="111111"/>
                </a:solidFill>
                <a:latin typeface="PingFang SC"/>
              </a:rPr>
              <a:t>主要瓶颈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CPU 计算开销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内存访问与算法复杂度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096512"/>
            <a:ext cx="2359152" cy="768096"/>
          </a:xfrm>
          <a:prstGeom prst="roundRect">
            <a:avLst/>
          </a:prstGeom>
          <a:solidFill>
            <a:srgbClr val="D5E8D4"/>
          </a:solidFill>
          <a:ln w="19050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/>
            <a:r>
              <a:rPr sz="1550" b="0">
                <a:solidFill>
                  <a:srgbClr val="111111"/>
                </a:solidFill>
                <a:latin typeface="PingFang SC"/>
              </a:rPr>
              <a:t>研究关注点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算法效率优化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特征工程与规则筛查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566928"/>
            <a:ext cx="2788920" cy="5257800"/>
          </a:xfrm>
          <a:prstGeom prst="roundRect">
            <a:avLst/>
          </a:prstGeom>
          <a:solidFill>
            <a:srgbClr val="F5F5F5"/>
          </a:solidFill>
          <a:ln w="22225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685800"/>
            <a:ext cx="2057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11111"/>
                </a:solidFill>
                <a:latin typeface="PingFang SC"/>
              </a:rPr>
              <a:t>中等规模数据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8415" y="1078992"/>
            <a:ext cx="2359152" cy="768096"/>
          </a:xfrm>
          <a:prstGeom prst="roundRect">
            <a:avLst/>
          </a:prstGeom>
          <a:solidFill>
            <a:srgbClr val="DAE8FC"/>
          </a:solidFill>
          <a:ln w="19050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/>
            <a:r>
              <a:rPr sz="1550" b="0">
                <a:solidFill>
                  <a:srgbClr val="111111"/>
                </a:solidFill>
                <a:latin typeface="PingFang SC"/>
              </a:rPr>
              <a:t>主要特征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样本量继续增加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单机内存接近上限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8415" y="2084831"/>
            <a:ext cx="2359152" cy="768096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/>
            <a:r>
              <a:rPr sz="1550" b="0">
                <a:solidFill>
                  <a:srgbClr val="111111"/>
                </a:solidFill>
                <a:latin typeface="PingFang SC"/>
              </a:rPr>
              <a:t>典型处理方式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单机 GPU 加速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批处理与向量化计算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28415" y="3090672"/>
            <a:ext cx="2359152" cy="768096"/>
          </a:xfrm>
          <a:prstGeom prst="roundRect">
            <a:avLst/>
          </a:prstGeom>
          <a:solidFill>
            <a:srgbClr val="F8CECC"/>
          </a:solidFill>
          <a:ln w="19050">
            <a:solidFill>
              <a:srgbClr val="B85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/>
            <a:r>
              <a:rPr sz="1550" b="0">
                <a:solidFill>
                  <a:srgbClr val="111111"/>
                </a:solidFill>
                <a:latin typeface="PingFang SC"/>
              </a:rPr>
              <a:t>主要瓶颈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显存容量受限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CPU↔GPU 数据搬运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5" y="4096512"/>
            <a:ext cx="2359152" cy="768096"/>
          </a:xfrm>
          <a:prstGeom prst="roundRect">
            <a:avLst/>
          </a:prstGeom>
          <a:solidFill>
            <a:srgbClr val="D5E8D4"/>
          </a:solidFill>
          <a:ln w="19050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/>
            <a:r>
              <a:rPr sz="1550" b="0">
                <a:solidFill>
                  <a:srgbClr val="111111"/>
                </a:solidFill>
                <a:latin typeface="PingFang SC"/>
              </a:rPr>
              <a:t>研究关注点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算子批处理、算子融合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减少主机与设备往返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71616" y="566928"/>
            <a:ext cx="2788920" cy="5257800"/>
          </a:xfrm>
          <a:prstGeom prst="roundRect">
            <a:avLst/>
          </a:prstGeom>
          <a:solidFill>
            <a:srgbClr val="F5F5F5"/>
          </a:solidFill>
          <a:ln w="22225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685800"/>
            <a:ext cx="2057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11111"/>
                </a:solidFill>
                <a:latin typeface="PingFang SC"/>
              </a:rPr>
              <a:t>大规模数据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1078992"/>
            <a:ext cx="2359152" cy="768096"/>
          </a:xfrm>
          <a:prstGeom prst="roundRect">
            <a:avLst/>
          </a:prstGeom>
          <a:solidFill>
            <a:srgbClr val="DAE8FC"/>
          </a:solidFill>
          <a:ln w="19050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/>
            <a:r>
              <a:rPr sz="1550" b="0">
                <a:solidFill>
                  <a:srgbClr val="111111"/>
                </a:solidFill>
                <a:latin typeface="PingFang SC"/>
              </a:rPr>
              <a:t>主要特征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数据超出显存容量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索引与原始数据难以内存常驻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2084831"/>
            <a:ext cx="2359152" cy="768096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/>
            <a:r>
              <a:rPr sz="1550" b="0">
                <a:solidFill>
                  <a:srgbClr val="111111"/>
                </a:solidFill>
                <a:latin typeface="PingFang SC"/>
              </a:rPr>
              <a:t>典型处理方式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分层索引 / 候选过滤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外存辅助的加速检索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1072" y="3090672"/>
            <a:ext cx="2359152" cy="768096"/>
          </a:xfrm>
          <a:prstGeom prst="roundRect">
            <a:avLst/>
          </a:prstGeom>
          <a:solidFill>
            <a:srgbClr val="F8CECC"/>
          </a:solidFill>
          <a:ln w="19050">
            <a:solidFill>
              <a:srgbClr val="B85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/>
            <a:r>
              <a:rPr sz="1550" b="0">
                <a:solidFill>
                  <a:srgbClr val="111111"/>
                </a:solidFill>
                <a:latin typeface="PingFang SC"/>
              </a:rPr>
              <a:t>主要瓶颈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I/O 带宽与访问粒度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计算与存储阶段串行化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4096512"/>
            <a:ext cx="2359152" cy="768096"/>
          </a:xfrm>
          <a:prstGeom prst="roundRect">
            <a:avLst/>
          </a:prstGeom>
          <a:solidFill>
            <a:srgbClr val="D5E8D4"/>
          </a:solidFill>
          <a:ln w="19050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/>
            <a:r>
              <a:rPr sz="1550" b="0">
                <a:solidFill>
                  <a:srgbClr val="111111"/>
                </a:solidFill>
                <a:latin typeface="PingFang SC"/>
              </a:rPr>
              <a:t>研究关注点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计算—I/O 协同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异步流水与访问优化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34272" y="566928"/>
            <a:ext cx="2788920" cy="5257800"/>
          </a:xfrm>
          <a:prstGeom prst="roundRect">
            <a:avLst/>
          </a:prstGeom>
          <a:solidFill>
            <a:srgbClr val="F5F5F5"/>
          </a:solidFill>
          <a:ln w="22225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00032" y="685800"/>
            <a:ext cx="2057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11111"/>
                </a:solidFill>
                <a:latin typeface="PingFang SC"/>
              </a:rPr>
              <a:t>超大规模数据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53728" y="1078992"/>
            <a:ext cx="2359152" cy="768096"/>
          </a:xfrm>
          <a:prstGeom prst="roundRect">
            <a:avLst/>
          </a:prstGeom>
          <a:solidFill>
            <a:srgbClr val="DAE8FC"/>
          </a:solidFill>
          <a:ln w="19050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/>
            <a:r>
              <a:rPr sz="1550" b="0">
                <a:solidFill>
                  <a:srgbClr val="111111"/>
                </a:solidFill>
                <a:latin typeface="PingFang SC"/>
              </a:rPr>
              <a:t>主要特征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百亿级 / 持续增长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查询并发与吞吐要求更高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53728" y="2084831"/>
            <a:ext cx="2359152" cy="768096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/>
            <a:r>
              <a:rPr sz="1550" b="0">
                <a:solidFill>
                  <a:srgbClr val="111111"/>
                </a:solidFill>
                <a:latin typeface="PingFang SC"/>
              </a:rPr>
              <a:t>典型处理方式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多 GPU / 分布式执行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跨设备并行与结果归并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53728" y="3090672"/>
            <a:ext cx="2359152" cy="768096"/>
          </a:xfrm>
          <a:prstGeom prst="roundRect">
            <a:avLst/>
          </a:prstGeom>
          <a:solidFill>
            <a:srgbClr val="F8CECC"/>
          </a:solidFill>
          <a:ln w="19050">
            <a:solidFill>
              <a:srgbClr val="B85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/>
            <a:r>
              <a:rPr sz="1550" b="0">
                <a:solidFill>
                  <a:srgbClr val="111111"/>
                </a:solidFill>
                <a:latin typeface="PingFang SC"/>
              </a:rPr>
              <a:t>主要瓶颈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设备间通信与归并开销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负载均衡与 I/O 竞争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53728" y="4096512"/>
            <a:ext cx="2359152" cy="768096"/>
          </a:xfrm>
          <a:prstGeom prst="roundRect">
            <a:avLst/>
          </a:prstGeom>
          <a:solidFill>
            <a:srgbClr val="D5E8D4"/>
          </a:solidFill>
          <a:ln w="19050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/>
            <a:r>
              <a:rPr sz="1550" b="0">
                <a:solidFill>
                  <a:srgbClr val="111111"/>
                </a:solidFill>
                <a:latin typeface="PingFang SC"/>
              </a:rPr>
              <a:t>研究关注点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多设备协同与扩展性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并行调度与资源利用率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724912" y="3474720.0"/>
            <a:ext cx="603503" cy="0.0"/>
          </a:xfrm>
          <a:prstGeom prst="line">
            <a:avLst/>
          </a:prstGeom>
          <a:ln w="20320">
            <a:solidFill>
              <a:srgbClr val="6E6E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687567" y="3474720.0"/>
            <a:ext cx="603505" cy="0.0"/>
          </a:xfrm>
          <a:prstGeom prst="line">
            <a:avLst/>
          </a:prstGeom>
          <a:ln w="20320">
            <a:solidFill>
              <a:srgbClr val="6E6E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650224" y="3474720.0"/>
            <a:ext cx="603504" cy="0.0"/>
          </a:xfrm>
          <a:prstGeom prst="line">
            <a:avLst/>
          </a:prstGeom>
          <a:ln w="20320">
            <a:solidFill>
              <a:srgbClr val="6E6E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97280" y="6071616"/>
            <a:ext cx="9966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11111"/>
                </a:solidFill>
                <a:latin typeface="PingFang SC"/>
              </a:rPr>
              <a:t>瓶颈迁移：CPU计算 → 显存与数据搬运 → I/O带宽与串行化 → 多设备通信与归并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