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26280" y="7315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11111"/>
                </a:solidFill>
                <a:latin typeface="PingFang SC"/>
              </a:rPr>
              <a:t>数据规模持续增长</a:t>
            </a:r>
          </a:p>
        </p:txBody>
      </p:sp>
      <p:sp>
        <p:nvSpPr>
          <p:cNvPr id="3" name="Right Arrow 2"/>
          <p:cNvSpPr/>
          <p:nvPr/>
        </p:nvSpPr>
        <p:spPr>
          <a:xfrm>
            <a:off x="731520" y="384048"/>
            <a:ext cx="10698480" cy="210312"/>
          </a:xfrm>
          <a:prstGeom prst="rightArrow">
            <a:avLst/>
          </a:prstGeom>
          <a:solidFill>
            <a:srgbClr val="E5E5E5"/>
          </a:solidFill>
          <a:ln w="190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6304" y="566928"/>
            <a:ext cx="2788920" cy="5257800"/>
          </a:xfrm>
          <a:prstGeom prst="roundRect">
            <a:avLst/>
          </a:prstGeom>
          <a:solidFill>
            <a:srgbClr val="F5F5F5"/>
          </a:solidFill>
          <a:ln w="22225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685800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小规模数据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78992"/>
            <a:ext cx="2359152" cy="1033272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 dirty="0" err="1">
                <a:solidFill>
                  <a:srgbClr val="111111"/>
                </a:solidFill>
                <a:latin typeface="PingFang SC"/>
              </a:rPr>
              <a:t>主要特征</a:t>
            </a:r>
            <a:br>
              <a:rPr dirty="0"/>
            </a:br>
            <a:r>
              <a:rPr sz="1550" b="0" dirty="0" err="1">
                <a:solidFill>
                  <a:srgbClr val="111111"/>
                </a:solidFill>
                <a:latin typeface="PingFang SC"/>
              </a:rPr>
              <a:t>样本量较小</a:t>
            </a:r>
            <a:br>
              <a:rPr dirty="0"/>
            </a:br>
            <a:r>
              <a:rPr sz="1550" b="0" dirty="0" err="1">
                <a:solidFill>
                  <a:srgbClr val="111111"/>
                </a:solidFill>
                <a:latin typeface="PingFang SC"/>
              </a:rPr>
              <a:t>单机内存可容纳</a:t>
            </a:r>
            <a:endParaRPr sz="1550" b="0" dirty="0">
              <a:solidFill>
                <a:srgbClr val="111111"/>
              </a:solidFill>
              <a:latin typeface="PingFang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2359152"/>
            <a:ext cx="2359152" cy="768096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典型处理方式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单机 CPU 检测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规则与统计方法为主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364993"/>
            <a:ext cx="2359152" cy="768096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主要瓶颈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CPU 计算开销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内存访问与算法复杂度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370833"/>
            <a:ext cx="2359152" cy="768096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研究关注点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算法效率优化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特征工程与规则筛查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566928"/>
            <a:ext cx="2788920" cy="5257800"/>
          </a:xfrm>
          <a:prstGeom prst="roundRect">
            <a:avLst/>
          </a:prstGeom>
          <a:solidFill>
            <a:srgbClr val="F5F5F5"/>
          </a:solidFill>
          <a:ln w="22225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685800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中等规模数据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5" y="1078991"/>
            <a:ext cx="2359152" cy="1033273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 dirty="0" err="1">
                <a:solidFill>
                  <a:srgbClr val="111111"/>
                </a:solidFill>
                <a:latin typeface="PingFang SC"/>
              </a:rPr>
              <a:t>主要特征</a:t>
            </a:r>
            <a:br>
              <a:rPr dirty="0"/>
            </a:br>
            <a:r>
              <a:rPr sz="1550" b="0" dirty="0" err="1">
                <a:solidFill>
                  <a:srgbClr val="111111"/>
                </a:solidFill>
                <a:latin typeface="PingFang SC"/>
              </a:rPr>
              <a:t>样本量继续增加</a:t>
            </a:r>
            <a:br>
              <a:rPr dirty="0"/>
            </a:br>
            <a:r>
              <a:rPr sz="1550" b="0" dirty="0" err="1">
                <a:solidFill>
                  <a:srgbClr val="111111"/>
                </a:solidFill>
                <a:latin typeface="PingFang SC"/>
              </a:rPr>
              <a:t>单机内存接近上限</a:t>
            </a:r>
            <a:endParaRPr sz="1550" b="0" dirty="0">
              <a:solidFill>
                <a:srgbClr val="111111"/>
              </a:solidFill>
              <a:latin typeface="PingFang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28415" y="2359152"/>
            <a:ext cx="2359152" cy="768096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典型处理方式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单机 GPU 加速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批处理与向量化计算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5" y="3364993"/>
            <a:ext cx="2359152" cy="768096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 dirty="0" err="1">
                <a:solidFill>
                  <a:srgbClr val="111111"/>
                </a:solidFill>
                <a:latin typeface="PingFang SC"/>
              </a:rPr>
              <a:t>主要瓶颈</a:t>
            </a:r>
            <a:br>
              <a:rPr dirty="0"/>
            </a:br>
            <a:r>
              <a:rPr sz="1550" b="0" dirty="0" err="1">
                <a:solidFill>
                  <a:srgbClr val="111111"/>
                </a:solidFill>
                <a:latin typeface="PingFang SC"/>
              </a:rPr>
              <a:t>显存容量受限</a:t>
            </a:r>
            <a:br>
              <a:rPr dirty="0"/>
            </a:br>
            <a:r>
              <a:rPr sz="1550" b="0" dirty="0">
                <a:solidFill>
                  <a:srgbClr val="111111"/>
                </a:solidFill>
                <a:latin typeface="PingFang SC"/>
              </a:rPr>
              <a:t>CPU</a:t>
            </a:r>
            <a:r>
              <a:rPr lang="en-US" altLang="zh-CN" sz="1550" dirty="0">
                <a:solidFill>
                  <a:srgbClr val="111111"/>
                </a:solidFill>
                <a:latin typeface="PingFang SC"/>
              </a:rPr>
              <a:t>&lt;-&gt;</a:t>
            </a:r>
            <a:r>
              <a:rPr sz="1550" b="0" dirty="0">
                <a:solidFill>
                  <a:srgbClr val="111111"/>
                </a:solidFill>
                <a:latin typeface="PingFang SC"/>
              </a:rPr>
              <a:t>GPU </a:t>
            </a:r>
            <a:r>
              <a:rPr sz="1550" b="0" dirty="0" err="1">
                <a:solidFill>
                  <a:srgbClr val="111111"/>
                </a:solidFill>
                <a:latin typeface="PingFang SC"/>
              </a:rPr>
              <a:t>数据搬运</a:t>
            </a:r>
            <a:endParaRPr sz="1550" b="0" dirty="0">
              <a:solidFill>
                <a:srgbClr val="111111"/>
              </a:solidFill>
              <a:latin typeface="PingFang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28415" y="4370833"/>
            <a:ext cx="2359152" cy="768096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研究关注点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算子批处理、算子融合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减少主机与设备往返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566928"/>
            <a:ext cx="2788920" cy="5257800"/>
          </a:xfrm>
          <a:prstGeom prst="roundRect">
            <a:avLst/>
          </a:prstGeom>
          <a:solidFill>
            <a:srgbClr val="F5F5F5"/>
          </a:solidFill>
          <a:ln w="22225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685800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大规模数据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078992"/>
            <a:ext cx="2359152" cy="1033272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 dirty="0" err="1">
                <a:solidFill>
                  <a:srgbClr val="111111"/>
                </a:solidFill>
                <a:latin typeface="PingFang SC"/>
              </a:rPr>
              <a:t>主要特征</a:t>
            </a:r>
            <a:br>
              <a:rPr dirty="0"/>
            </a:br>
            <a:r>
              <a:rPr sz="1550" b="0" dirty="0" err="1">
                <a:solidFill>
                  <a:srgbClr val="111111"/>
                </a:solidFill>
                <a:latin typeface="PingFang SC"/>
              </a:rPr>
              <a:t>数据超出显存容量</a:t>
            </a:r>
            <a:br>
              <a:rPr dirty="0"/>
            </a:br>
            <a:r>
              <a:rPr sz="1550" b="0" dirty="0" err="1">
                <a:solidFill>
                  <a:srgbClr val="111111"/>
                </a:solidFill>
                <a:latin typeface="PingFang SC"/>
              </a:rPr>
              <a:t>索引与原始数据难以内存常驻</a:t>
            </a:r>
            <a:endParaRPr sz="1550" b="0" dirty="0">
              <a:solidFill>
                <a:srgbClr val="111111"/>
              </a:solidFill>
              <a:latin typeface="PingFang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91072" y="2359152"/>
            <a:ext cx="2359152" cy="768096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典型处理方式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分层索引 / 候选过滤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外存辅助的加速检索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3364993"/>
            <a:ext cx="2359152" cy="768096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主要瓶颈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I/O 带宽与访问粒度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计算与存储阶段串行化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70833"/>
            <a:ext cx="2359152" cy="768096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研究关注点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计算—I/O 协同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异步流水与访问优化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566928"/>
            <a:ext cx="2788920" cy="5257800"/>
          </a:xfrm>
          <a:prstGeom prst="roundRect">
            <a:avLst/>
          </a:prstGeom>
          <a:solidFill>
            <a:srgbClr val="F5F5F5"/>
          </a:solidFill>
          <a:ln w="22225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00032" y="685800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超大规模数据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1078992"/>
            <a:ext cx="2359152" cy="1033272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 dirty="0" err="1">
                <a:solidFill>
                  <a:srgbClr val="111111"/>
                </a:solidFill>
                <a:latin typeface="PingFang SC"/>
              </a:rPr>
              <a:t>主要特征</a:t>
            </a:r>
            <a:br>
              <a:rPr dirty="0"/>
            </a:br>
            <a:r>
              <a:rPr sz="1550" b="0" dirty="0" err="1">
                <a:solidFill>
                  <a:srgbClr val="111111"/>
                </a:solidFill>
                <a:latin typeface="PingFang SC"/>
              </a:rPr>
              <a:t>百亿级</a:t>
            </a:r>
            <a:r>
              <a:rPr sz="1550" b="0" dirty="0">
                <a:solidFill>
                  <a:srgbClr val="111111"/>
                </a:solidFill>
                <a:latin typeface="PingFang SC"/>
              </a:rPr>
              <a:t> / </a:t>
            </a:r>
            <a:r>
              <a:rPr sz="1550" b="0" dirty="0" err="1">
                <a:solidFill>
                  <a:srgbClr val="111111"/>
                </a:solidFill>
                <a:latin typeface="PingFang SC"/>
              </a:rPr>
              <a:t>持续增长</a:t>
            </a:r>
            <a:br>
              <a:rPr dirty="0"/>
            </a:br>
            <a:r>
              <a:rPr sz="1550" b="0" dirty="0" err="1">
                <a:solidFill>
                  <a:srgbClr val="111111"/>
                </a:solidFill>
                <a:latin typeface="PingFang SC"/>
              </a:rPr>
              <a:t>查询并发与吞吐要求更高</a:t>
            </a:r>
            <a:endParaRPr sz="1550" b="0" dirty="0">
              <a:solidFill>
                <a:srgbClr val="111111"/>
              </a:solidFill>
              <a:latin typeface="PingFang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253728" y="2359152"/>
            <a:ext cx="2359152" cy="768096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典型处理方式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多 GPU / 分布式执行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跨设备并行与结果归并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53728" y="3364993"/>
            <a:ext cx="2359152" cy="768096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主要瓶颈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设备间通信与归并开销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负载均衡与 I/O 竞争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53728" y="4370833"/>
            <a:ext cx="2359152" cy="768096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/>
            <a:r>
              <a:rPr sz="1550" b="0">
                <a:solidFill>
                  <a:srgbClr val="111111"/>
                </a:solidFill>
                <a:latin typeface="PingFang SC"/>
              </a:rPr>
              <a:t>研究关注点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多设备协同与扩展性</a:t>
            </a:r>
            <a:br/>
            <a:r>
              <a:rPr sz="1550" b="0">
                <a:solidFill>
                  <a:srgbClr val="111111"/>
                </a:solidFill>
                <a:latin typeface="PingFang SC"/>
              </a:rPr>
              <a:t>并行调度与资源利用率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24912" y="3703321"/>
            <a:ext cx="603503" cy="0"/>
          </a:xfrm>
          <a:prstGeom prst="line">
            <a:avLst/>
          </a:prstGeom>
          <a:ln w="2032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87567" y="3732740"/>
            <a:ext cx="603505" cy="0"/>
          </a:xfrm>
          <a:prstGeom prst="line">
            <a:avLst/>
          </a:prstGeom>
          <a:ln w="2032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50224" y="3732740"/>
            <a:ext cx="603504" cy="0"/>
          </a:xfrm>
          <a:prstGeom prst="line">
            <a:avLst/>
          </a:prstGeom>
          <a:ln w="2032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7280" y="6071616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瓶颈迁移：CPU计算 → 显存与数据搬运 → I/O带宽与串行化 → 多设备通信与归并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127</Words>
  <Application>Microsoft Macintosh PowerPoint</Application>
  <PresentationFormat>宽屏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PingFang SC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2026-04-11T15:24:12Z</dcterms:modified>
  <cp:category/>
</cp:coreProperties>
</file>